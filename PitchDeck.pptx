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37" d="100"/>
          <a:sy n="37" d="100"/>
        </p:scale>
        <p:origin x="60" y="5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F65FB-8A28-4728-AE76-2945B320A34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DC0892-DB49-474C-9905-CF449DF20FF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487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Inflation drives value growth more than demand</a:t>
            </a:r>
          </a:p>
          <a:p>
            <a:r>
              <a:rPr lang="en-US" dirty="0"/>
              <a:t>Simple models can be surprisingly strong</a:t>
            </a:r>
          </a:p>
          <a:p>
            <a:r>
              <a:rPr lang="en-US" dirty="0"/>
              <a:t>Combining model families yields reliable forecasts</a:t>
            </a:r>
          </a:p>
          <a:p>
            <a:r>
              <a:rPr lang="en-US" dirty="0"/>
              <a:t>Clear value for policy and business decisions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C0892-DB49-474C-9905-CF449DF20FF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04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A8F0C6-E5B8-4E07-59FD-42BBFAD7C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7B1012A-1446-6D5B-4810-44089955B4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E179F9-6E15-2733-1656-02495714D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AEA15F-F4D8-22E5-C2CC-712F8D9C5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9A95BC-92E1-A51C-C63C-BE142F0C7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94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1CD4D6-4367-BEA8-5CF3-77064B093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0B2402-5ED0-0EB7-7163-BC18635E9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7E24CC-F938-EEDD-A852-A21E9C63A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9A9FAE-EDFA-4D81-B85F-51138027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C1788D-911E-D50E-4F9C-B0B7EDAE1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307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27C35E-46EB-D547-D0DD-208923FC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08BCA9-F7BF-6FB0-60FF-6F5CF89C9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98EB32-3406-C098-4C80-5527882E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138EA3-3AB1-2C9A-531C-D8D25E1A9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4F20C6-BF8C-C805-D594-501088662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31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C41E1-032C-2B79-FDD6-B231635C0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A8BA25-4AB3-D993-D85F-4F75A48C21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C2208C-65B6-813A-C636-1A9ADD34C6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D832C5-9125-654C-DCB5-84B93D1BE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96868C-8187-7E3A-294C-B27F2A93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6566B0-963B-D6F2-D890-1993EB974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653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8CB7F7-B64C-C8E9-8495-620A61D88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9BCB53-7E15-B7A1-65BA-F8D475A20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56BA6D1-9269-AD11-BC8B-63669C6C8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F5B585C-FCAE-1EF3-AE9C-C72548DDA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2FC082-5F46-ED1C-E1DF-3F8D6962C9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0F4B844-1843-8391-D4C4-535058A58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D0D4AFC-2552-A3DA-DBA5-C42DD7AC3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55BA6B3-12B4-BC7B-8B36-39561B21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50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C9FB92-8913-80D9-F18D-3CCEF9B45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7D1F3C-875E-C7C5-12C6-BD4716A55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26946F0-B955-D33F-46C7-EC9BA0D9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7A9E70-8376-3389-B2DB-FD7B50778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851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F3AB1CF-66A0-ACEB-C5F0-2F30B122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C2638F-E074-EBF7-259A-7E3D07C1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1DF0E1-0AB5-B103-723F-DF46A6179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66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9BDB50-FFB0-2DD9-570D-BCD9B0076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81AFC4-A02C-B6BD-E8CC-27E3F6801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C00455-DFA5-4630-1467-36A6FCB17A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47A5C7A-7D51-1BBF-68BE-334477DB9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D989D65-80CE-CF6B-3004-810B949BB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15FC48-888E-91CD-1116-55619747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24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395674-3504-231E-A39B-9142615D4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BEC3C3B-D3D3-8160-E2E6-93CBEA90CA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360F3C-47C3-19B3-E460-EC7B1901EE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D921EED-553E-63D2-C283-CDD93E73A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A5C7B04-E3C5-F6E6-B496-5AB5BDA53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6B050A-2195-FAC7-A13D-A0153B7B5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859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FDFDD4-0595-33F3-B69F-7293FBC8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E9A4E76-5C06-2B84-314B-DEEA59D4AC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1A780-FDEF-8135-B8D3-06CB0AF24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E00F9D-18BC-9060-1606-47047A580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171CD1-624F-AEDA-4D04-ADDA9571B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1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94550B7-67FC-7073-CCCC-398AF3F6CB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E04E58B-4A24-5102-2FA5-A29071CEDF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BC8406-E227-8EE6-A392-04F267790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4114DD-62A3-A263-9F1A-AA6B8DE51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9502D9-CF20-4D19-DFEA-7888BA7EE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3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9577B0D-7233-4280-A0FD-DEEA394DE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E6C2F7-F26E-DF51-8F52-3BE66F563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670E76-821B-605D-B02D-9EAA02A2B8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D3DCDF-DC49-467E-A828-F0567435869A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64CDD7-8C81-EA27-BD77-320595FA42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91C56D-3D30-6347-5E6E-651D78062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08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tatistik.at/statistiken/internationaler-handel/internationaler-warenhandel/importe-und-exporte-von-gueter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6B71AA-F062-2379-A18D-814AEE707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Capstone Project</a:t>
            </a:r>
            <a:br>
              <a:rPr lang="en-US" dirty="0"/>
            </a:br>
            <a:r>
              <a:rPr lang="en-US" dirty="0"/>
              <a:t>Coffee, Tee, Mate and Seasoning Import and Export Austria Prediction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C3388C5-4101-108A-5844-CB88FBE607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Andreas </a:t>
            </a:r>
            <a:r>
              <a:rPr lang="en-US" dirty="0" err="1"/>
              <a:t>Ranzmaier</a:t>
            </a:r>
            <a:r>
              <a:rPr lang="en-US" dirty="0"/>
              <a:t> and Lea Treml</a:t>
            </a:r>
          </a:p>
          <a:p>
            <a:endParaRPr lang="en-US" dirty="0"/>
          </a:p>
          <a:p>
            <a:r>
              <a:rPr lang="en-US" dirty="0"/>
              <a:t>Second DRAFT</a:t>
            </a:r>
          </a:p>
        </p:txBody>
      </p:sp>
    </p:spTree>
    <p:extLst>
      <p:ext uri="{BB962C8B-B14F-4D97-AF65-F5344CB8AC3E}">
        <p14:creationId xmlns:p14="http://schemas.microsoft.com/office/powerpoint/2010/main" val="2409871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4C3D5-8D48-6B8D-4669-8DA92646E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01AC5A-BE50-F834-BA33-76D28A009A2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Andreas </a:t>
            </a:r>
          </a:p>
          <a:p>
            <a:pPr lvl="1"/>
            <a:r>
              <a:rPr lang="en-US" dirty="0"/>
              <a:t>Data Preprocessing</a:t>
            </a:r>
          </a:p>
          <a:p>
            <a:pPr lvl="1"/>
            <a:r>
              <a:rPr lang="en-US" dirty="0"/>
              <a:t>ML &amp; Neural</a:t>
            </a:r>
          </a:p>
          <a:p>
            <a:pPr lvl="1"/>
            <a:r>
              <a:rPr lang="en-US" dirty="0"/>
              <a:t>Analysis</a:t>
            </a:r>
          </a:p>
          <a:p>
            <a:pPr lvl="1"/>
            <a:r>
              <a:rPr lang="en-US" dirty="0"/>
              <a:t>Main Coder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F610D15-4A99-6F9E-B074-28F3F667AA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Lea Treml</a:t>
            </a:r>
          </a:p>
          <a:p>
            <a:pPr lvl="1"/>
            <a:r>
              <a:rPr lang="en-US" dirty="0"/>
              <a:t>Baseline &amp; Statistical</a:t>
            </a:r>
          </a:p>
          <a:p>
            <a:pPr lvl="1"/>
            <a:r>
              <a:rPr lang="en-US" dirty="0"/>
              <a:t>Documentation </a:t>
            </a:r>
          </a:p>
          <a:p>
            <a:pPr lvl="1"/>
            <a:r>
              <a:rPr lang="en-US" dirty="0"/>
              <a:t>Analysis</a:t>
            </a:r>
          </a:p>
          <a:p>
            <a:pPr lvl="1"/>
            <a:r>
              <a:rPr lang="en-US" dirty="0" err="1"/>
              <a:t>Pitchdeck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55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B45987-62ED-3772-EDD9-42F616D01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C3EFDB-EA88-DC05-E526-EC1545C39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 values rising – why?</a:t>
            </a:r>
          </a:p>
          <a:p>
            <a:r>
              <a:rPr lang="en-US" dirty="0"/>
              <a:t>Demand growth vs. price inflation unclear</a:t>
            </a:r>
          </a:p>
          <a:p>
            <a:r>
              <a:rPr lang="en-US" dirty="0"/>
              <a:t>No reliable short-term forecast for planning</a:t>
            </a:r>
          </a:p>
          <a:p>
            <a:r>
              <a:rPr lang="en-US" dirty="0"/>
              <a:t>Risk of wrong economic &amp; business desc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801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3BCF5-A2C3-BB77-FEE3-26762A16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B1A64F-0EC0-1C73-0CF8-CDC03F237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 &amp; Inflation-adjusted data</a:t>
            </a:r>
          </a:p>
          <a:p>
            <a:r>
              <a:rPr lang="en-US" dirty="0"/>
              <a:t>Analyze seasonality, trend and </a:t>
            </a:r>
            <a:r>
              <a:rPr lang="en-US" dirty="0" err="1"/>
              <a:t>stationairy</a:t>
            </a:r>
            <a:endParaRPr lang="en-US" dirty="0"/>
          </a:p>
          <a:p>
            <a:r>
              <a:rPr lang="en-US" dirty="0"/>
              <a:t>Compare baseline, statistical, ML and neural models</a:t>
            </a:r>
          </a:p>
          <a:p>
            <a:r>
              <a:rPr lang="en-US" dirty="0"/>
              <a:t>Product short-term forecasts up to Jan 2026</a:t>
            </a:r>
          </a:p>
        </p:txBody>
      </p:sp>
    </p:spTree>
    <p:extLst>
      <p:ext uri="{BB962C8B-B14F-4D97-AF65-F5344CB8AC3E}">
        <p14:creationId xmlns:p14="http://schemas.microsoft.com/office/powerpoint/2010/main" val="132215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7345B-6CD9-5E5C-F5C1-376D3166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1CE170-CC01-8EB9-7240-6C53FB55A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https://www.statistik.at/statistiken/internationaler-handel/internationaler-warenhandel/importe-und-exporte-von-guetern</a:t>
            </a:r>
            <a:endParaRPr lang="en-US" dirty="0"/>
          </a:p>
          <a:p>
            <a:r>
              <a:rPr lang="en-US" dirty="0" err="1"/>
              <a:t>STATcube</a:t>
            </a:r>
            <a:r>
              <a:rPr lang="en-US" dirty="0"/>
              <a:t> </a:t>
            </a:r>
            <a:r>
              <a:rPr lang="en-US" dirty="0" err="1"/>
              <a:t>Außenhandle</a:t>
            </a:r>
            <a:r>
              <a:rPr lang="en-US" dirty="0"/>
              <a:t> ab 2007; KN 2-Steller</a:t>
            </a:r>
          </a:p>
          <a:p>
            <a:r>
              <a:rPr lang="en-US" dirty="0"/>
              <a:t>We decided to go for 5 years (except the 3 months that were not yet available for 2025) so 2021 to 2025 monthly data</a:t>
            </a:r>
          </a:p>
          <a:p>
            <a:r>
              <a:rPr lang="en-US" dirty="0"/>
              <a:t>Section 9: Coffee, Tea, Mate, Spices</a:t>
            </a:r>
          </a:p>
          <a:p>
            <a:r>
              <a:rPr lang="en-US" dirty="0"/>
              <a:t>Quantities (kg) and values (EUR)</a:t>
            </a:r>
          </a:p>
        </p:txBody>
      </p:sp>
    </p:spTree>
    <p:extLst>
      <p:ext uri="{BB962C8B-B14F-4D97-AF65-F5344CB8AC3E}">
        <p14:creationId xmlns:p14="http://schemas.microsoft.com/office/powerpoint/2010/main" val="2815550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156912-AD41-D83A-D373-6055EFB18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9D9D5A-2A5A-A985-EAD7-232CF137B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Cleaned raw CSVs and reordered months</a:t>
            </a:r>
          </a:p>
          <a:p>
            <a:r>
              <a:rPr lang="en-US" dirty="0"/>
              <a:t>Standardized timestamps and column names </a:t>
            </a:r>
          </a:p>
          <a:p>
            <a:r>
              <a:rPr lang="en-US" dirty="0"/>
              <a:t>Converted values to real 2025 value of euro</a:t>
            </a:r>
          </a:p>
        </p:txBody>
      </p:sp>
    </p:spTree>
    <p:extLst>
      <p:ext uri="{BB962C8B-B14F-4D97-AF65-F5344CB8AC3E}">
        <p14:creationId xmlns:p14="http://schemas.microsoft.com/office/powerpoint/2010/main" val="2404659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94200B-E4CB-036A-BE7E-FEF1BB0C1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CF0848-4988-50C5-A37B-7D72B09F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Baseline: Naive, Seasonal Naive, Historic Average</a:t>
            </a:r>
          </a:p>
          <a:p>
            <a:r>
              <a:rPr lang="en-US" dirty="0" err="1"/>
              <a:t>Statisitical</a:t>
            </a:r>
            <a:r>
              <a:rPr lang="en-US" dirty="0"/>
              <a:t>: Random Walk, ARIMA, Auto-ARIMA</a:t>
            </a:r>
          </a:p>
          <a:p>
            <a:r>
              <a:rPr lang="en-US" dirty="0"/>
              <a:t>ML: Linear, Ridge, Random Forest, Gradient Boosting</a:t>
            </a:r>
          </a:p>
          <a:p>
            <a:r>
              <a:rPr lang="en-US" dirty="0"/>
              <a:t>Neural: RNN, MLP, N-Beats, NHITS </a:t>
            </a:r>
          </a:p>
          <a:p>
            <a:endParaRPr lang="en-US" dirty="0"/>
          </a:p>
          <a:p>
            <a:r>
              <a:rPr lang="en-US" dirty="0"/>
              <a:t>Baseline for performance floor</a:t>
            </a:r>
          </a:p>
          <a:p>
            <a:r>
              <a:rPr lang="en-US" dirty="0"/>
              <a:t>Stat </a:t>
            </a:r>
            <a:r>
              <a:rPr lang="en-US" dirty="0" err="1"/>
              <a:t>fr</a:t>
            </a:r>
            <a:r>
              <a:rPr lang="en-US" dirty="0"/>
              <a:t>  trend &amp; seasonality</a:t>
            </a:r>
          </a:p>
          <a:p>
            <a:r>
              <a:rPr lang="en-US" dirty="0"/>
              <a:t>ML nonlinear</a:t>
            </a:r>
          </a:p>
          <a:p>
            <a:r>
              <a:rPr lang="en-US" dirty="0"/>
              <a:t>Neural more complex dynamically (?)</a:t>
            </a:r>
          </a:p>
        </p:txBody>
      </p:sp>
    </p:spTree>
    <p:extLst>
      <p:ext uri="{BB962C8B-B14F-4D97-AF65-F5344CB8AC3E}">
        <p14:creationId xmlns:p14="http://schemas.microsoft.com/office/powerpoint/2010/main" val="3810694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18C21C-8463-53E8-3C8F-FFDC65A8F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4F23D6-03E7-E498-558B-3BC73D18B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Time-based split</a:t>
            </a:r>
          </a:p>
          <a:p>
            <a:r>
              <a:rPr lang="en-US" dirty="0"/>
              <a:t>Train, Val, Test splits</a:t>
            </a:r>
          </a:p>
          <a:p>
            <a:r>
              <a:rPr lang="en-US" dirty="0"/>
              <a:t>Metrics: MAE, RMSE, MAPE, R2, OPE</a:t>
            </a:r>
          </a:p>
          <a:p>
            <a:r>
              <a:rPr lang="en-US" dirty="0"/>
              <a:t>Visual forecast comparison</a:t>
            </a:r>
          </a:p>
        </p:txBody>
      </p:sp>
    </p:spTree>
    <p:extLst>
      <p:ext uri="{BB962C8B-B14F-4D97-AF65-F5344CB8AC3E}">
        <p14:creationId xmlns:p14="http://schemas.microsoft.com/office/powerpoint/2010/main" val="2319692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ABE1108-6423-4E53-85A1-817683043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3D60865-55F0-C80A-E221-AB4DA400D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3366" y="543070"/>
            <a:ext cx="6870954" cy="1675626"/>
          </a:xfrm>
        </p:spPr>
        <p:txBody>
          <a:bodyPr>
            <a:normAutofit/>
          </a:bodyPr>
          <a:lstStyle/>
          <a:p>
            <a:r>
              <a:rPr lang="en-US" sz="4000"/>
              <a:t>Best Performing Models</a:t>
            </a:r>
          </a:p>
        </p:txBody>
      </p:sp>
      <p:pic>
        <p:nvPicPr>
          <p:cNvPr id="10" name="Grafik 9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EAB4158B-AD27-D2D3-A987-2BF0CDF180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71" b="-3"/>
          <a:stretch>
            <a:fillRect/>
          </a:stretch>
        </p:blipFill>
        <p:spPr>
          <a:xfrm>
            <a:off x="20" y="1"/>
            <a:ext cx="4187091" cy="2164321"/>
          </a:xfrm>
          <a:prstGeom prst="rect">
            <a:avLst/>
          </a:prstGeom>
        </p:spPr>
      </p:pic>
      <p:pic>
        <p:nvPicPr>
          <p:cNvPr id="12" name="Grafik 11" descr="Ein Bild, das Text, Schrif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1DCB26E9-CD47-28ED-0EA5-2C0897CA91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071" b="-3"/>
          <a:stretch>
            <a:fillRect/>
          </a:stretch>
        </p:blipFill>
        <p:spPr>
          <a:xfrm>
            <a:off x="20" y="2342320"/>
            <a:ext cx="4187091" cy="2164321"/>
          </a:xfrm>
          <a:prstGeom prst="rect">
            <a:avLst/>
          </a:prstGeom>
        </p:spPr>
      </p:pic>
      <p:pic>
        <p:nvPicPr>
          <p:cNvPr id="8" name="Grafik 7" descr="Ein Bild, das Text, Schrift, Handschrift, Reihe enthält.&#10;&#10;KI-generierte Inhalte können fehlerhaft sein.">
            <a:extLst>
              <a:ext uri="{FF2B5EF4-FFF2-40B4-BE49-F238E27FC236}">
                <a16:creationId xmlns:a16="http://schemas.microsoft.com/office/drawing/2014/main" id="{D7CC4F7A-755E-DEAB-A034-7C56F61E2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071" b="-3"/>
          <a:stretch>
            <a:fillRect/>
          </a:stretch>
        </p:blipFill>
        <p:spPr>
          <a:xfrm>
            <a:off x="20" y="4693680"/>
            <a:ext cx="4187091" cy="2164321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FBDCAC-51F7-AFE4-6863-90E2CE538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3366" y="2399720"/>
            <a:ext cx="6870954" cy="3736507"/>
          </a:xfrm>
        </p:spPr>
        <p:txBody>
          <a:bodyPr>
            <a:normAutofit/>
          </a:bodyPr>
          <a:lstStyle/>
          <a:p>
            <a:r>
              <a:rPr lang="en-US" sz="2000"/>
              <a:t>Auto-ARIMA </a:t>
            </a:r>
          </a:p>
          <a:p>
            <a:r>
              <a:rPr lang="en-US" sz="2000"/>
              <a:t>Random Forest</a:t>
            </a:r>
          </a:p>
          <a:p>
            <a:r>
              <a:rPr lang="en-US" sz="2000"/>
              <a:t>Seasonal Naive</a:t>
            </a:r>
          </a:p>
        </p:txBody>
      </p:sp>
    </p:spTree>
    <p:extLst>
      <p:ext uri="{BB962C8B-B14F-4D97-AF65-F5344CB8AC3E}">
        <p14:creationId xmlns:p14="http://schemas.microsoft.com/office/powerpoint/2010/main" val="4016463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BC194D-DE4E-4E00-4B02-17CAAEA9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Forecast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862F64-C969-1C75-057B-CF7C73E0B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Auto-ARIMA: seasonal decline</a:t>
            </a:r>
          </a:p>
          <a:p>
            <a:r>
              <a:rPr lang="en-US" dirty="0"/>
              <a:t>RF: smooth, conservative forecasts</a:t>
            </a:r>
          </a:p>
          <a:p>
            <a:r>
              <a:rPr lang="en-US" dirty="0"/>
              <a:t>Seasonal Naive: strong monthly swings</a:t>
            </a:r>
          </a:p>
          <a:p>
            <a:r>
              <a:rPr lang="en-US" dirty="0"/>
              <a:t>Higher uncertainty at seasonal transitions</a:t>
            </a:r>
          </a:p>
          <a:p>
            <a:endParaRPr lang="en-US" dirty="0"/>
          </a:p>
          <a:p>
            <a:r>
              <a:rPr lang="en-US" dirty="0"/>
              <a:t>Strong historical seasonality</a:t>
            </a:r>
          </a:p>
          <a:p>
            <a:r>
              <a:rPr lang="en-US" dirty="0"/>
              <a:t>October 2025 data enables partial validation</a:t>
            </a:r>
          </a:p>
          <a:p>
            <a:r>
              <a:rPr lang="en-US" dirty="0"/>
              <a:t>Multiple models provide robustness </a:t>
            </a:r>
          </a:p>
        </p:txBody>
      </p:sp>
    </p:spTree>
    <p:extLst>
      <p:ext uri="{BB962C8B-B14F-4D97-AF65-F5344CB8AC3E}">
        <p14:creationId xmlns:p14="http://schemas.microsoft.com/office/powerpoint/2010/main" val="214813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3800E-83F4-E225-2132-1392E5D73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AB4C48-E077-AAE3-FF52-B8E2221D0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Better import planning</a:t>
            </a:r>
          </a:p>
          <a:p>
            <a:r>
              <a:rPr lang="en-US" dirty="0" err="1"/>
              <a:t>Seperation</a:t>
            </a:r>
            <a:r>
              <a:rPr lang="en-US" dirty="0"/>
              <a:t> on demand vs. price effects</a:t>
            </a:r>
          </a:p>
          <a:p>
            <a:r>
              <a:rPr lang="en-US" dirty="0"/>
              <a:t>Reduced risk from assumptions</a:t>
            </a:r>
          </a:p>
          <a:p>
            <a:r>
              <a:rPr lang="en-US" dirty="0"/>
              <a:t>Data-driven economic interpretation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6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0DD05C-F5B0-27A5-751E-A0EE652AB8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Thx for attention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F8F2EB5-2635-6F9C-8949-F9B785C670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2879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352</Words>
  <Application>Microsoft Office PowerPoint</Application>
  <PresentationFormat>Breitbild</PresentationFormat>
  <Paragraphs>74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Capstone Project Coffee, Tee, Mate and Seasoning Import and Export Austria Prediction</vt:lpstr>
      <vt:lpstr>Team</vt:lpstr>
      <vt:lpstr>Problem</vt:lpstr>
      <vt:lpstr>Solution</vt:lpstr>
      <vt:lpstr>Data Source</vt:lpstr>
      <vt:lpstr>Data Engineering</vt:lpstr>
      <vt:lpstr>Modelling</vt:lpstr>
      <vt:lpstr>Evaluation</vt:lpstr>
      <vt:lpstr>Best Performing Models</vt:lpstr>
      <vt:lpstr>Forecast</vt:lpstr>
      <vt:lpstr>Value</vt:lpstr>
      <vt:lpstr>Thx for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Treml Lea - s2410929032</dc:creator>
  <cp:lastModifiedBy>Treml Lea - s2410929032</cp:lastModifiedBy>
  <cp:revision>8</cp:revision>
  <dcterms:created xsi:type="dcterms:W3CDTF">2025-12-28T13:47:41Z</dcterms:created>
  <dcterms:modified xsi:type="dcterms:W3CDTF">2025-12-31T10:54:46Z</dcterms:modified>
</cp:coreProperties>
</file>